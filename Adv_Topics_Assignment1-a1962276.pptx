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Libre Franklin"/>
      <p:regular r:id="rId14"/>
      <p:bold r:id="rId15"/>
      <p:italic r:id="rId16"/>
      <p:boldItalic r:id="rId17"/>
    </p:embeddedFont>
    <p:embeddedFont>
      <p:font typeface="Libre Franklin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872595-D323-4683-B006-7D3768C638C0}">
  <a:tblStyle styleId="{D4872595-D323-4683-B006-7D3768C638C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Medium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font" Target="fonts/LibreFranklinMedium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LibreFranklin-bold.fntdata"/><Relationship Id="rId14" Type="http://schemas.openxmlformats.org/officeDocument/2006/relationships/font" Target="fonts/LibreFranklin-regular.fntdata"/><Relationship Id="rId17" Type="http://schemas.openxmlformats.org/officeDocument/2006/relationships/font" Target="fonts/LibreFranklin-boldItalic.fntdata"/><Relationship Id="rId16" Type="http://schemas.openxmlformats.org/officeDocument/2006/relationships/font" Target="fonts/LibreFranklin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LibreFranklinMedium-bold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LibreFranklinMedium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Relationship Id="rId3" Type="http://schemas.openxmlformats.org/officeDocument/2006/relationships/image" Target="../media/image14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Relationship Id="rId3" Type="http://schemas.openxmlformats.org/officeDocument/2006/relationships/image" Target="../media/image16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jpg"/><Relationship Id="rId3" Type="http://schemas.openxmlformats.org/officeDocument/2006/relationships/image" Target="../media/image3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1 - Dark Blue" showMasterSp="0">
  <p:cSld name="Cover with Image 1 - Dark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12809" y="2814616"/>
            <a:ext cx="3363544" cy="731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8127" y="0"/>
            <a:ext cx="6655873" cy="5143500"/>
          </a:xfrm>
          <a:custGeom>
            <a:rect b="b" l="l" r="r" t="t"/>
            <a:pathLst>
              <a:path extrusionOk="0" h="5143500" w="6655873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2 - Dark Blue" showMasterSp="0">
  <p:cSld name="Cover with Image 2 - Dark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12809" y="2814616"/>
            <a:ext cx="3363544" cy="731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8127" y="0"/>
            <a:ext cx="6655873" cy="5143500"/>
          </a:xfrm>
          <a:custGeom>
            <a:rect b="b" l="l" r="r" t="t"/>
            <a:pathLst>
              <a:path extrusionOk="0" h="5143500" w="6655873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no Image – Bright Blue">
  <p:cSld name="Cover no Image – Bright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2809" y="2814616"/>
            <a:ext cx="4186238" cy="731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no Image – Dark Blue">
  <p:cSld name="Cover no Image – Dark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12809" y="2814616"/>
            <a:ext cx="3367605" cy="731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no Image – Dark Blue">
  <p:cSld name="Cover no Image – Dark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12809" y="2814616"/>
            <a:ext cx="3367605" cy="731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909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Georgia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White">
  <p:cSld name="Divider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907" y="1212980"/>
            <a:ext cx="1762179" cy="190213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1269318" y="2298215"/>
            <a:ext cx="5896591" cy="706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398708" y="1322516"/>
            <a:ext cx="953682" cy="812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bre Franklin"/>
              <a:buNone/>
              <a:defRPr b="1" i="0" sz="4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- Dark Blue">
  <p:cSld name="Title + Text - Dark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15925" y="865400"/>
            <a:ext cx="6786563" cy="2967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320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Char char="–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- White">
  <p:cSld name="Title + Text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15925" y="865400"/>
            <a:ext cx="6786563" cy="2967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+ Image - White">
  <p:cSld name="Title + Content + Image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>
            <p:ph idx="2" type="pic"/>
          </p:nvPr>
        </p:nvSpPr>
        <p:spPr>
          <a:xfrm>
            <a:off x="4572001" y="858837"/>
            <a:ext cx="4021494" cy="361985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9" name="Google Shape;49;p11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925" y="858838"/>
            <a:ext cx="3613150" cy="3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+ Content + Image - White">
  <p:cSld name="1_Title + Content + Image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415925" y="858838"/>
            <a:ext cx="3613150" cy="3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4571644" y="858839"/>
            <a:ext cx="4021494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statement text">
  <p:cSld name="Large statement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467661" y="827479"/>
            <a:ext cx="8038563" cy="3283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- Limestone">
  <p:cSld name="Title + Text - Limest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15925" y="868149"/>
            <a:ext cx="7104063" cy="3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+ Content + Image - Limestone">
  <p:cSld name="1_Title + Content + Image - Limest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15925" y="858838"/>
            <a:ext cx="3613150" cy="3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571644" y="858839"/>
            <a:ext cx="4021494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or Diagram - no text">
  <p:cSld name="1_Large Image or Diagram - no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None/>
              <a:defRPr sz="800"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28600" lvl="4" marL="22860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2" type="body"/>
          </p:nvPr>
        </p:nvSpPr>
        <p:spPr>
          <a:xfrm>
            <a:off x="0" y="0"/>
            <a:ext cx="9144000" cy="426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or Diagram - with text">
  <p:cSld name="1_Large Image or Diagram -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416217" y="171520"/>
            <a:ext cx="4034485" cy="864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None/>
              <a:defRPr sz="800"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28600" lvl="4" marL="22860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5202530" y="184421"/>
            <a:ext cx="3437617" cy="1065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61818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None/>
              <a:defRPr sz="1100"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/>
            </a:lvl2pPr>
            <a:lvl3pPr indent="-298450" lvl="2" marL="1371600" algn="l">
              <a:lnSpc>
                <a:spcPct val="161818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•"/>
              <a:defRPr sz="1100">
                <a:latin typeface="Georgia"/>
                <a:ea typeface="Georgia"/>
                <a:cs typeface="Georgia"/>
                <a:sym typeface="Georgia"/>
              </a:defRPr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28600" lvl="4" marL="22860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3" type="body"/>
          </p:nvPr>
        </p:nvSpPr>
        <p:spPr>
          <a:xfrm>
            <a:off x="416218" y="1316038"/>
            <a:ext cx="8224546" cy="294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no Image – White">
  <p:cSld name="Cover no Image –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412809" y="2814616"/>
            <a:ext cx="3802931" cy="73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2222"/>
              </a:lnSpc>
              <a:spcBef>
                <a:spcPts val="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1 - White" showMasterSp="0">
  <p:cSld name="Cover with Image 1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/>
        </p:nvSpPr>
        <p:spPr>
          <a:xfrm>
            <a:off x="2488117" y="-1"/>
            <a:ext cx="6655873" cy="5143501"/>
          </a:xfrm>
          <a:custGeom>
            <a:rect b="b" l="l" r="r" t="t"/>
            <a:pathLst>
              <a:path extrusionOk="0" h="3576119" w="3097857">
                <a:moveTo>
                  <a:pt x="1952802" y="1366"/>
                </a:moveTo>
                <a:lnTo>
                  <a:pt x="3097857" y="0"/>
                </a:lnTo>
                <a:lnTo>
                  <a:pt x="3097857" y="3576119"/>
                </a:lnTo>
                <a:lnTo>
                  <a:pt x="0" y="3573655"/>
                </a:lnTo>
                <a:lnTo>
                  <a:pt x="1952802" y="136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2222"/>
              </a:lnSpc>
              <a:spcBef>
                <a:spcPts val="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412809" y="2814615"/>
            <a:ext cx="4052313" cy="73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9" name="Google Shape;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8127" y="0"/>
            <a:ext cx="6655873" cy="5143500"/>
          </a:xfrm>
          <a:custGeom>
            <a:rect b="b" l="l" r="r" t="t"/>
            <a:pathLst>
              <a:path extrusionOk="0" h="5143500" w="6655873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2 - White" showMasterSp="0">
  <p:cSld name="Cover with Image 2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2488117" y="-1"/>
            <a:ext cx="6655873" cy="5143501"/>
          </a:xfrm>
          <a:custGeom>
            <a:rect b="b" l="l" r="r" t="t"/>
            <a:pathLst>
              <a:path extrusionOk="0" h="3576119" w="3097857">
                <a:moveTo>
                  <a:pt x="1952802" y="1366"/>
                </a:moveTo>
                <a:lnTo>
                  <a:pt x="3097857" y="0"/>
                </a:lnTo>
                <a:lnTo>
                  <a:pt x="3097857" y="3576119"/>
                </a:lnTo>
                <a:lnTo>
                  <a:pt x="0" y="3573655"/>
                </a:lnTo>
                <a:lnTo>
                  <a:pt x="1952802" y="136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2222"/>
              </a:lnSpc>
              <a:spcBef>
                <a:spcPts val="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" type="body"/>
          </p:nvPr>
        </p:nvSpPr>
        <p:spPr>
          <a:xfrm>
            <a:off x="412809" y="2814615"/>
            <a:ext cx="4052313" cy="73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8127" y="0"/>
            <a:ext cx="6655873" cy="5143500"/>
          </a:xfrm>
          <a:custGeom>
            <a:rect b="b" l="l" r="r" t="t"/>
            <a:pathLst>
              <a:path extrusionOk="0" h="5143500" w="6655873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1 - Sandstone">
  <p:cSld name="Cover with Image 1 - Sandst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2222"/>
              </a:lnSpc>
              <a:spcBef>
                <a:spcPts val="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412809" y="2814615"/>
            <a:ext cx="4052313" cy="73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8" name="Google Shape;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8127" y="0"/>
            <a:ext cx="6655873" cy="5143500"/>
          </a:xfrm>
          <a:custGeom>
            <a:rect b="b" l="l" r="r" t="t"/>
            <a:pathLst>
              <a:path extrusionOk="0" h="5143500" w="6655873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2 - Sandstone">
  <p:cSld name="Cover with Image 2 - Sandst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2222"/>
              </a:lnSpc>
              <a:spcBef>
                <a:spcPts val="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412809" y="2814615"/>
            <a:ext cx="4052313" cy="73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2" name="Google Shape;1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8127" y="0"/>
            <a:ext cx="6655873" cy="5143500"/>
          </a:xfrm>
          <a:custGeom>
            <a:rect b="b" l="l" r="r" t="t"/>
            <a:pathLst>
              <a:path extrusionOk="0" h="5143500" w="6655873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13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Libre Franklin"/>
              <a:buNone/>
              <a:defRPr b="1" i="0" sz="52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623525"/>
            <a:ext cx="7886700" cy="2253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accen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971800" y="290514"/>
            <a:ext cx="3200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 u="none" cap="none" strike="noStrike">
                <a:solidFill>
                  <a:srgbClr val="140F5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16217" y="1072389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04800" lvl="2" marL="1371600" marR="0" rtl="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•"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04800" lvl="3" marL="1828800" marR="0" rtl="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–"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04800" lvl="4" marL="2286000" marR="0" rtl="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»"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4230"/>
              </a:lnSpc>
              <a:spcBef>
                <a:spcPts val="0"/>
              </a:spcBef>
              <a:spcAft>
                <a:spcPts val="0"/>
              </a:spcAft>
              <a:buClr>
                <a:srgbClr val="140F50"/>
              </a:buClr>
              <a:buSzPts val="5200"/>
              <a:buFont typeface="Libre Franklin"/>
              <a:buNone/>
              <a:defRPr b="1" i="0" sz="5200" u="none" cap="none" strike="noStrike">
                <a:solidFill>
                  <a:srgbClr val="140F5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623525"/>
            <a:ext cx="7886700" cy="195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40F50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40F50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40F50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0F5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40F50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32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34.png"/><Relationship Id="rId5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382577" y="1014611"/>
            <a:ext cx="8612700" cy="14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ibre Franklin"/>
              <a:buNone/>
            </a:pPr>
            <a:r>
              <a:rPr lang="en-US" sz="4400"/>
              <a:t>ARTI 6000: Advanced Topics in Artificial Intelligence &amp; Machine Learning</a:t>
            </a:r>
            <a:endParaRPr sz="4400"/>
          </a:p>
        </p:txBody>
      </p:sp>
      <p:sp>
        <p:nvSpPr>
          <p:cNvPr id="109" name="Google Shape;109;p24"/>
          <p:cNvSpPr/>
          <p:nvPr/>
        </p:nvSpPr>
        <p:spPr>
          <a:xfrm>
            <a:off x="4095750" y="2286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" name="Google Shape;110;p24"/>
          <p:cNvGraphicFramePr/>
          <p:nvPr/>
        </p:nvGraphicFramePr>
        <p:xfrm>
          <a:off x="412801" y="35767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{D4872595-D323-4683-B006-7D3768C638C0}</a:tableStyleId>
              </a:tblPr>
              <a:tblGrid>
                <a:gridCol w="6468575"/>
              </a:tblGrid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Siddharth Menon - a1962276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" name="Google Shape;111;p24"/>
          <p:cNvSpPr txBox="1"/>
          <p:nvPr>
            <p:ph idx="1" type="body"/>
          </p:nvPr>
        </p:nvSpPr>
        <p:spPr>
          <a:xfrm>
            <a:off x="412809" y="2911591"/>
            <a:ext cx="3363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</a:pPr>
            <a:r>
              <a:rPr lang="en-US"/>
              <a:t>Assignment - 1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</a:pPr>
            <a:r>
              <a:rPr lang="en-US"/>
              <a:t>RLHF Alignment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title"/>
          </p:nvPr>
        </p:nvSpPr>
        <p:spPr>
          <a:xfrm>
            <a:off x="3745800" y="458575"/>
            <a:ext cx="1652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Datasets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7" name="Google Shape;1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50" y="1146075"/>
            <a:ext cx="4439975" cy="3367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5"/>
          <p:cNvSpPr txBox="1"/>
          <p:nvPr/>
        </p:nvSpPr>
        <p:spPr>
          <a:xfrm>
            <a:off x="1753938" y="4571450"/>
            <a:ext cx="153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GenZ Slang Dataset</a:t>
            </a:r>
            <a:endParaRPr sz="1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9" name="Google Shape;11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775" y="1173925"/>
            <a:ext cx="4099373" cy="331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5"/>
          <p:cNvSpPr txBox="1"/>
          <p:nvPr/>
        </p:nvSpPr>
        <p:spPr>
          <a:xfrm>
            <a:off x="6360225" y="4571450"/>
            <a:ext cx="17841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Stack Overflow</a:t>
            </a: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Dataset</a:t>
            </a:r>
            <a:endParaRPr sz="1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800" y="687475"/>
            <a:ext cx="2986450" cy="4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6" title="RLHF-Dia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900" y="1191650"/>
            <a:ext cx="3834372" cy="375004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 txBox="1"/>
          <p:nvPr/>
        </p:nvSpPr>
        <p:spPr>
          <a:xfrm>
            <a:off x="2320500" y="159975"/>
            <a:ext cx="4503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DPO Pipeline Visualised with Code</a:t>
            </a:r>
            <a:endParaRPr b="1" sz="2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9" name="Google Shape;129;p26"/>
          <p:cNvCxnSpPr/>
          <p:nvPr/>
        </p:nvCxnSpPr>
        <p:spPr>
          <a:xfrm flipH="1" rot="10800000">
            <a:off x="5172575" y="1170225"/>
            <a:ext cx="504300" cy="6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0" name="Google Shape;130;p26" title="Gemma-3-1B-it-Training-Logs-genz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7925" y="3077450"/>
            <a:ext cx="2597827" cy="1665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6"/>
          <p:cNvCxnSpPr/>
          <p:nvPr/>
        </p:nvCxnSpPr>
        <p:spPr>
          <a:xfrm flipH="1" rot="10800000">
            <a:off x="5465600" y="3795950"/>
            <a:ext cx="9771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2" name="Google Shape;13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0274" y="1226811"/>
            <a:ext cx="1810550" cy="1575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26"/>
          <p:cNvCxnSpPr/>
          <p:nvPr/>
        </p:nvCxnSpPr>
        <p:spPr>
          <a:xfrm flipH="1" rot="10800000">
            <a:off x="4110325" y="2319950"/>
            <a:ext cx="2031900" cy="17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4" name="Google Shape;134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497" y="1485450"/>
            <a:ext cx="1284400" cy="2538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6"/>
          <p:cNvCxnSpPr/>
          <p:nvPr/>
        </p:nvCxnSpPr>
        <p:spPr>
          <a:xfrm rot="10800000">
            <a:off x="1260475" y="1910175"/>
            <a:ext cx="1008300" cy="165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6"/>
          <p:cNvCxnSpPr/>
          <p:nvPr/>
        </p:nvCxnSpPr>
        <p:spPr>
          <a:xfrm rot="10800000">
            <a:off x="1042375" y="3597175"/>
            <a:ext cx="2047800" cy="5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1139399" y="224850"/>
            <a:ext cx="68652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Output Comparison: Vanilla vs DPO-Aligned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3125" y="853325"/>
            <a:ext cx="3937757" cy="13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7"/>
          <p:cNvPicPr preferRelativeResize="0"/>
          <p:nvPr/>
        </p:nvPicPr>
        <p:blipFill rotWithShape="1">
          <a:blip r:embed="rId4">
            <a:alphaModFix/>
          </a:blip>
          <a:srcRect b="57625" l="0" r="0" t="0"/>
          <a:stretch/>
        </p:blipFill>
        <p:spPr>
          <a:xfrm>
            <a:off x="611475" y="2513423"/>
            <a:ext cx="3861174" cy="2072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7"/>
          <p:cNvPicPr preferRelativeResize="0"/>
          <p:nvPr/>
        </p:nvPicPr>
        <p:blipFill rotWithShape="1">
          <a:blip r:embed="rId4">
            <a:alphaModFix/>
          </a:blip>
          <a:srcRect b="0" l="0" r="0" t="64253"/>
          <a:stretch/>
        </p:blipFill>
        <p:spPr>
          <a:xfrm>
            <a:off x="4799850" y="3233450"/>
            <a:ext cx="3885430" cy="175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9850" y="2513425"/>
            <a:ext cx="3819399" cy="5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421950" y="308250"/>
            <a:ext cx="2300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Training Logs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3" name="Google Shape;153;p28" title="GPT-OSS-20B-Training-Logs-stackover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5675" y="1477075"/>
            <a:ext cx="2583419" cy="1656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 title="GPT-OSS-20B-Training-Logs-genz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7025" y="3278709"/>
            <a:ext cx="2666266" cy="170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8" title="Gemma3-1B-it-Training-Logs-stackoverfl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8063" y="1450525"/>
            <a:ext cx="2664192" cy="170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 title="Gemma-3-1B-it-Training-Logs-genz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65675" y="3262695"/>
            <a:ext cx="2604549" cy="1669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 txBox="1"/>
          <p:nvPr/>
        </p:nvSpPr>
        <p:spPr>
          <a:xfrm>
            <a:off x="1987600" y="925925"/>
            <a:ext cx="129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649575" y="1997250"/>
            <a:ext cx="12945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Stack Overflow Alignment</a:t>
            </a:r>
            <a:endParaRPr sz="1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693100" y="3798888"/>
            <a:ext cx="12945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GenZ Slang Alignment</a:t>
            </a:r>
            <a:endParaRPr sz="1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/>
        </p:nvSpPr>
        <p:spPr>
          <a:xfrm>
            <a:off x="3585450" y="1496967"/>
            <a:ext cx="19731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Demo</a:t>
            </a:r>
            <a:endParaRPr sz="4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2991750" y="2963117"/>
            <a:ext cx="31605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4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4264350" y="2308700"/>
            <a:ext cx="615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&amp;</a:t>
            </a:r>
            <a:endParaRPr sz="4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 Cover Slides - Light">
  <a:themeElements>
    <a:clrScheme name="AU Working v2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9883FF"/>
      </a:accent3>
      <a:accent4>
        <a:srgbClr val="C1B5FF"/>
      </a:accent4>
      <a:accent5>
        <a:srgbClr val="8AA3FF"/>
      </a:accent5>
      <a:accent6>
        <a:srgbClr val="D0DAFF"/>
      </a:accent6>
      <a:hlink>
        <a:srgbClr val="113CD5"/>
      </a:hlink>
      <a:folHlink>
        <a:srgbClr val="3B67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ver Slides - Dark">
  <a:themeElements>
    <a:clrScheme name="Custom 2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U Content Slides – Light">
  <a:themeElements>
    <a:clrScheme name="AU Working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